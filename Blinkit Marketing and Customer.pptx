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632" r:id="rId1"/>
  </p:sldMasterIdLst>
  <p:sldIdLst>
    <p:sldId id="265" r:id="rId2"/>
    <p:sldId id="256" r:id="rId3"/>
    <p:sldId id="257" r:id="rId4"/>
    <p:sldId id="258" r:id="rId5"/>
    <p:sldId id="259" r:id="rId6"/>
    <p:sldId id="260" r:id="rId7"/>
    <p:sldId id="261" r:id="rId8"/>
    <p:sldId id="266" r:id="rId9"/>
    <p:sldId id="270" r:id="rId10"/>
    <p:sldId id="276" r:id="rId11"/>
    <p:sldId id="262" r:id="rId12"/>
    <p:sldId id="267" r:id="rId13"/>
    <p:sldId id="271" r:id="rId14"/>
    <p:sldId id="272" r:id="rId15"/>
    <p:sldId id="273" r:id="rId16"/>
    <p:sldId id="274" r:id="rId17"/>
    <p:sldId id="275"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500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670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2122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528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4028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7260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5510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3981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8802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2370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60613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8473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09571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7643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6684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868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33221278"/>
      </p:ext>
    </p:extLst>
  </p:cSld>
  <p:clrMap bg1="lt1" tx1="dk1" bg2="lt2" tx2="dk2" accent1="accent1" accent2="accent2" accent3="accent3" accent4="accent4" accent5="accent5" accent6="accent6" hlink="hlink" folHlink="folHlink"/>
  <p:sldLayoutIdLst>
    <p:sldLayoutId id="2147484633" r:id="rId1"/>
    <p:sldLayoutId id="2147484634" r:id="rId2"/>
    <p:sldLayoutId id="2147484635" r:id="rId3"/>
    <p:sldLayoutId id="2147484636" r:id="rId4"/>
    <p:sldLayoutId id="2147484637" r:id="rId5"/>
    <p:sldLayoutId id="2147484638" r:id="rId6"/>
    <p:sldLayoutId id="2147484639" r:id="rId7"/>
    <p:sldLayoutId id="2147484640" r:id="rId8"/>
    <p:sldLayoutId id="2147484641" r:id="rId9"/>
    <p:sldLayoutId id="2147484642" r:id="rId10"/>
    <p:sldLayoutId id="2147484643" r:id="rId11"/>
    <p:sldLayoutId id="2147484644" r:id="rId12"/>
    <p:sldLayoutId id="2147484645" r:id="rId13"/>
    <p:sldLayoutId id="2147484646" r:id="rId14"/>
    <p:sldLayoutId id="2147484647" r:id="rId15"/>
    <p:sldLayoutId id="214748464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140" y="2860430"/>
            <a:ext cx="6347713" cy="712763"/>
          </a:xfrm>
        </p:spPr>
        <p:txBody>
          <a:bodyPr>
            <a:normAutofit/>
          </a:bodyPr>
          <a:lstStyle/>
          <a:p>
            <a:pPr algn="ctr"/>
            <a:r>
              <a:rPr lang="en-US" sz="4000" b="1" dirty="0">
                <a:latin typeface="Book Antiqua" panose="02040602050305030304" pitchFamily="18" charset="0"/>
              </a:rPr>
              <a:t>WELCOME</a:t>
            </a:r>
            <a:endParaRPr sz="4000" b="1" dirty="0">
              <a:latin typeface="Book Antiqua" panose="0204060205030503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3D4FB7A-8451-4F03-926E-A8F587C868BE}"/>
              </a:ext>
            </a:extLst>
          </p:cNvPr>
          <p:cNvSpPr>
            <a:spLocks noGrp="1"/>
          </p:cNvSpPr>
          <p:nvPr>
            <p:ph idx="1"/>
          </p:nvPr>
        </p:nvSpPr>
        <p:spPr>
          <a:xfrm>
            <a:off x="829994" y="2433711"/>
            <a:ext cx="7132320" cy="1237958"/>
          </a:xfrm>
        </p:spPr>
        <p:txBody>
          <a:bodyPr>
            <a:noAutofit/>
          </a:bodyPr>
          <a:lstStyle/>
          <a:p>
            <a:pPr marL="0" indent="0">
              <a:buNone/>
            </a:pPr>
            <a:r>
              <a:rPr lang="en-US" sz="3200" b="1" dirty="0" err="1">
                <a:solidFill>
                  <a:srgbClr val="FFC000"/>
                </a:solidFill>
                <a:latin typeface="Book Antiqua" panose="02040602050305030304" pitchFamily="18" charset="0"/>
              </a:rPr>
              <a:t>Blinkit</a:t>
            </a:r>
            <a:r>
              <a:rPr lang="en-US" sz="3200" b="1" dirty="0">
                <a:solidFill>
                  <a:srgbClr val="FFC000"/>
                </a:solidFill>
                <a:latin typeface="Book Antiqua" panose="02040602050305030304" pitchFamily="18" charset="0"/>
              </a:rPr>
              <a:t>  Marketing and Customer Feedback Dashboard</a:t>
            </a:r>
            <a:endParaRPr lang="en-IN" sz="3200" b="1" dirty="0">
              <a:solidFill>
                <a:srgbClr val="FFC000"/>
              </a:solidFill>
              <a:latin typeface="Book Antiqua" panose="02040602050305030304" pitchFamily="18" charset="0"/>
            </a:endParaRPr>
          </a:p>
        </p:txBody>
      </p:sp>
      <p:sp>
        <p:nvSpPr>
          <p:cNvPr id="6" name="TextBox 5">
            <a:extLst>
              <a:ext uri="{FF2B5EF4-FFF2-40B4-BE49-F238E27FC236}">
                <a16:creationId xmlns:a16="http://schemas.microsoft.com/office/drawing/2014/main" id="{219FFFB7-7DA0-49B5-AA15-FEC787248C8B}"/>
              </a:ext>
            </a:extLst>
          </p:cNvPr>
          <p:cNvSpPr txBox="1"/>
          <p:nvPr/>
        </p:nvSpPr>
        <p:spPr>
          <a:xfrm>
            <a:off x="3699803" y="5371076"/>
            <a:ext cx="4262511" cy="707886"/>
          </a:xfrm>
          <a:prstGeom prst="rect">
            <a:avLst/>
          </a:prstGeom>
          <a:noFill/>
        </p:spPr>
        <p:txBody>
          <a:bodyPr wrap="square" rtlCol="0">
            <a:spAutoFit/>
          </a:bodyPr>
          <a:lstStyle/>
          <a:p>
            <a:r>
              <a:rPr lang="en-IN" sz="2000" dirty="0">
                <a:latin typeface="Book Antiqua" panose="02040602050305030304" pitchFamily="18" charset="0"/>
              </a:rPr>
              <a:t>Power BI Dashboard Project</a:t>
            </a:r>
          </a:p>
          <a:p>
            <a:r>
              <a:rPr lang="en-US" sz="2000" dirty="0">
                <a:latin typeface="Book Antiqua" panose="02040602050305030304" pitchFamily="18" charset="0"/>
              </a:rPr>
              <a:t>   Presented By Gomathi G</a:t>
            </a:r>
            <a:endParaRPr lang="en-IN" sz="2000" dirty="0">
              <a:latin typeface="Book Antiqua" panose="0204060205030503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a:xfrm>
            <a:off x="609599" y="1575581"/>
            <a:ext cx="6347714" cy="4504006"/>
          </a:xfrm>
        </p:spPr>
        <p:txBody>
          <a:bodyPr>
            <a:normAutofit fontScale="77500" lnSpcReduction="20000"/>
          </a:bodyPr>
          <a:lstStyle/>
          <a:p>
            <a:pPr>
              <a:lnSpc>
                <a:spcPct val="170000"/>
              </a:lnSpc>
            </a:pPr>
            <a:r>
              <a:rPr lang="en-US" sz="2600" dirty="0" err="1">
                <a:solidFill>
                  <a:schemeClr val="tx1"/>
                </a:solidFill>
                <a:latin typeface="Times New Roman" panose="02020603050405020304" pitchFamily="18" charset="0"/>
                <a:cs typeface="Times New Roman" panose="02020603050405020304" pitchFamily="18" charset="0"/>
              </a:rPr>
              <a:t>Blinkit</a:t>
            </a:r>
            <a:r>
              <a:rPr lang="en-US" sz="2600" dirty="0">
                <a:solidFill>
                  <a:schemeClr val="tx1"/>
                </a:solidFill>
                <a:latin typeface="Times New Roman" panose="02020603050405020304" pitchFamily="18" charset="0"/>
                <a:cs typeface="Times New Roman" panose="02020603050405020304" pitchFamily="18" charset="0"/>
              </a:rPr>
              <a:t> is a leading instant grocery delivery platform that operates in multiple cities, serving thousands of customers daily through digital marketing campaigns and app-based ordering. The company collects large volumes of data related to customers, orders, products, delivery performance, and marketing campaigns.</a:t>
            </a:r>
          </a:p>
          <a:p>
            <a:pPr>
              <a:lnSpc>
                <a:spcPct val="170000"/>
              </a:lnSpc>
            </a:pPr>
            <a:r>
              <a:rPr lang="en-US" sz="2600" dirty="0" err="1">
                <a:solidFill>
                  <a:schemeClr val="tx1"/>
                </a:solidFill>
                <a:latin typeface="Times New Roman" panose="02020603050405020304" pitchFamily="18" charset="0"/>
                <a:cs typeface="Times New Roman" panose="02020603050405020304" pitchFamily="18" charset="0"/>
              </a:rPr>
              <a:t>Blinkit</a:t>
            </a:r>
            <a:r>
              <a:rPr lang="en-US" sz="2600" dirty="0">
                <a:solidFill>
                  <a:schemeClr val="tx1"/>
                </a:solidFill>
                <a:latin typeface="Times New Roman" panose="02020603050405020304" pitchFamily="18" charset="0"/>
                <a:cs typeface="Times New Roman" panose="02020603050405020304" pitchFamily="18" charset="0"/>
              </a:rPr>
              <a:t> is one of India’s leading quick-commerce (q-commerce) platforms, delivering groceries and daily essentials to customers within minutes</a:t>
            </a:r>
            <a:r>
              <a:rPr lang="en-US" sz="2600" dirty="0">
                <a:latin typeface="Times New Roman" panose="02020603050405020304" pitchFamily="18" charset="0"/>
                <a:cs typeface="Times New Roman" panose="02020603050405020304" pitchFamily="18" charset="0"/>
              </a:rPr>
              <a: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740898"/>
          </a:xfrm>
        </p:spPr>
        <p:txBody>
          <a:bodyPr/>
          <a:lstStyle/>
          <a:p>
            <a:r>
              <a:rPr dirty="0"/>
              <a:t>Problem Statement</a:t>
            </a:r>
          </a:p>
        </p:txBody>
      </p:sp>
      <p:sp>
        <p:nvSpPr>
          <p:cNvPr id="3" name="Content Placeholder 2"/>
          <p:cNvSpPr>
            <a:spLocks noGrp="1"/>
          </p:cNvSpPr>
          <p:nvPr>
            <p:ph idx="1"/>
          </p:nvPr>
        </p:nvSpPr>
        <p:spPr>
          <a:xfrm>
            <a:off x="609599" y="1659988"/>
            <a:ext cx="6347714" cy="4381375"/>
          </a:xfrm>
        </p:spPr>
        <p:txBody>
          <a:bodyPr>
            <a:normAutofit fontScale="62500" lnSpcReduction="20000"/>
          </a:bodyPr>
          <a:lstStyle/>
          <a:p>
            <a:pPr marL="342900" lvl="0" indent="-342900">
              <a:lnSpc>
                <a:spcPct val="170000"/>
              </a:lnSpc>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Which marketing campaigns generate higher revenue compared to their spending, and which campaigns perform best financially?</a:t>
            </a:r>
          </a:p>
          <a:p>
            <a:pPr marL="342900" lvl="0" indent="-342900">
              <a:lnSpc>
                <a:spcPct val="170000"/>
              </a:lnSpc>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How is customer engagement distributed across different channels?</a:t>
            </a:r>
          </a:p>
          <a:p>
            <a:pPr marL="342900" lvl="0" indent="-342900">
              <a:lnSpc>
                <a:spcPct val="170000"/>
              </a:lnSpc>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What is the distribution of customer satisfaction levels based on ratings?</a:t>
            </a:r>
          </a:p>
          <a:p>
            <a:pPr marL="342900" lvl="0" indent="-342900">
              <a:lnSpc>
                <a:spcPct val="170000"/>
              </a:lnSpc>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How many orders are delivery on time and show delivery status?</a:t>
            </a:r>
          </a:p>
          <a:p>
            <a:pPr marL="342900" lvl="0" indent="-342900">
              <a:lnSpc>
                <a:spcPct val="170000"/>
              </a:lnSpc>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Which payment methods are most preferred by customers in which category?</a:t>
            </a:r>
          </a:p>
          <a:p>
            <a:pPr marL="342900" lvl="0" indent="-342900">
              <a:lnSpc>
                <a:spcPct val="170000"/>
              </a:lnSpc>
              <a:spcAft>
                <a:spcPts val="800"/>
              </a:spcAft>
              <a:buFont typeface="+mj-lt"/>
              <a:buAutoNum type="arabicPeriod"/>
            </a:pPr>
            <a:r>
              <a:rPr lang="en-IN" sz="2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Which cities generate the highest number of orders.</a:t>
            </a:r>
          </a:p>
          <a:p>
            <a:pPr>
              <a:lnSpc>
                <a:spcPct val="170000"/>
              </a:lnSpc>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a:xfrm>
            <a:off x="609598" y="1716259"/>
            <a:ext cx="5791201" cy="5036234"/>
          </a:xfrm>
        </p:spPr>
        <p:txBody>
          <a:bodyPr>
            <a:noAutofit/>
          </a:bodyPr>
          <a:lstStyle/>
          <a:p>
            <a:pPr defTabSz="914400" eaLnBrk="0" fontAlgn="base" hangingPunct="0">
              <a:lnSpc>
                <a:spcPct val="150000"/>
              </a:lnSpc>
              <a:spcBef>
                <a:spcPct val="0"/>
              </a:spcBef>
              <a:spcAft>
                <a:spcPct val="0"/>
              </a:spcAft>
              <a:buClr>
                <a:srgbClr val="FFC000"/>
              </a:buClr>
              <a:buSzTx/>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Blinkit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Marketing and Customer Feedback dataset</a:t>
            </a:r>
          </a:p>
          <a:p>
            <a:pPr defTabSz="914400" eaLnBrk="0" fontAlgn="base" hangingPunct="0">
              <a:lnSpc>
                <a:spcPct val="150000"/>
              </a:lnSpc>
              <a:spcBef>
                <a:spcPct val="0"/>
              </a:spcBef>
              <a:spcAft>
                <a:spcPct val="0"/>
              </a:spcAft>
              <a:buClr>
                <a:srgbClr val="FFC000"/>
              </a:buClr>
              <a:buSzTx/>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t>
            </a:r>
            <a:r>
              <a:rPr lang="en-US" altLang="en-US" dirty="0">
                <a:solidFill>
                  <a:schemeClr val="tx1"/>
                </a:solidFill>
                <a:latin typeface="Times New Roman" panose="02020603050405020304" pitchFamily="18" charset="0"/>
                <a:cs typeface="Times New Roman" panose="02020603050405020304" pitchFamily="18" charset="0"/>
              </a:rPr>
              <a:t>Table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IN"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Customer feedback</a:t>
            </a: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Customers</a:t>
            </a: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Marketing Performance</a:t>
            </a: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Order items</a:t>
            </a: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Orders</a:t>
            </a:r>
          </a:p>
          <a:p>
            <a:pPr marL="752475" marR="22860" lvl="1">
              <a:lnSpc>
                <a:spcPct val="150000"/>
              </a:lnSpc>
              <a:spcAft>
                <a:spcPts val="20"/>
              </a:spcAft>
              <a:buFont typeface="Arial" panose="020B0604020202020204" pitchFamily="34" charset="0"/>
              <a:buChar char="•"/>
            </a:pPr>
            <a:r>
              <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Product</a:t>
            </a:r>
          </a:p>
          <a:p>
            <a:pPr marL="466725" marR="22860" lvl="1" indent="0">
              <a:lnSpc>
                <a:spcPct val="150000"/>
              </a:lnSpc>
              <a:spcAft>
                <a:spcPts val="20"/>
              </a:spcAft>
              <a:buNone/>
            </a:pPr>
            <a:endPar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marL="752475" marR="22860" lvl="1">
              <a:lnSpc>
                <a:spcPct val="150000"/>
              </a:lnSpc>
              <a:spcAft>
                <a:spcPts val="20"/>
              </a:spcAft>
              <a:buFont typeface="Arial" panose="020B0604020202020204" pitchFamily="34" charset="0"/>
              <a:buChar char="•"/>
            </a:pPr>
            <a:endParaRPr lang="en-IN" sz="1800" dirty="0">
              <a:solidFill>
                <a:srgbClr val="000000"/>
              </a:solidFill>
              <a:latin typeface="Times New Roman" panose="02020603050405020304" pitchFamily="18" charset="0"/>
              <a:ea typeface="Arial" panose="020B0604020202020204" pitchFamily="34" charset="0"/>
              <a:cs typeface="Times New Roman" panose="02020603050405020304" pitchFamily="18" charset="0"/>
            </a:endParaRPr>
          </a:p>
          <a:p>
            <a:pPr marL="66675" marR="22860" indent="0">
              <a:lnSpc>
                <a:spcPct val="150000"/>
              </a:lnSpc>
              <a:spcAft>
                <a:spcPts val="20"/>
              </a:spcAft>
              <a:buNone/>
            </a:pPr>
            <a:r>
              <a:rPr lang="en-IN"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p>
          <a:p>
            <a:pPr marL="352425" marR="22860" indent="-285750">
              <a:spcAft>
                <a:spcPts val="20"/>
              </a:spcAft>
              <a:buFont typeface="Wingdings" panose="05000000000000000000" pitchFamily="2" charset="2"/>
              <a:buChar char="Ø"/>
            </a:pPr>
            <a:endParaRPr lang="en-IN" sz="1400" dirty="0">
              <a:solidFill>
                <a:srgbClr val="000000"/>
              </a:solidFill>
              <a:effectLst/>
              <a:latin typeface="Book Antiqua" panose="02040602050305030304" pitchFamily="18" charset="0"/>
              <a:ea typeface="Arial" panose="020B0604020202020204" pitchFamily="34" charset="0"/>
            </a:endParaRPr>
          </a:p>
          <a:p>
            <a:pPr marL="352425" marR="22860" indent="-285750">
              <a:lnSpc>
                <a:spcPct val="150000"/>
              </a:lnSpc>
              <a:spcAft>
                <a:spcPts val="20"/>
              </a:spcAft>
              <a:buFont typeface="Wingdings" panose="05000000000000000000" pitchFamily="2" charset="2"/>
              <a:buChar char="Ø"/>
            </a:pPr>
            <a:endParaRP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 Transformation</a:t>
            </a:r>
          </a:p>
        </p:txBody>
      </p:sp>
      <p:sp>
        <p:nvSpPr>
          <p:cNvPr id="3" name="Content Placeholder 2"/>
          <p:cNvSpPr>
            <a:spLocks noGrp="1"/>
          </p:cNvSpPr>
          <p:nvPr>
            <p:ph idx="1"/>
          </p:nvPr>
        </p:nvSpPr>
        <p:spPr>
          <a:xfrm>
            <a:off x="609599" y="1738559"/>
            <a:ext cx="6347714" cy="4087810"/>
          </a:xfrm>
        </p:spPr>
        <p:txBody>
          <a:bodyPr>
            <a:noAutofit/>
          </a:bodyPr>
          <a:lstStyle/>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Data Import</a:t>
            </a: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Remove Unnecessary Columns</a:t>
            </a: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Remove Blank Values</a:t>
            </a:r>
            <a:endParaRPr lang="en-IN" sz="2000" dirty="0">
              <a:solidFill>
                <a:schemeClr val="tx1"/>
              </a:solidFill>
              <a:latin typeface="Book Antiqua" panose="02040602050305030304" pitchFamily="18" charset="0"/>
              <a:ea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Change Data Types</a:t>
            </a: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Create New Columns</a:t>
            </a: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Split &amp; Merge Columns</a:t>
            </a:r>
          </a:p>
          <a:p>
            <a:pPr>
              <a:lnSpc>
                <a:spcPct val="150000"/>
              </a:lnSpc>
              <a:buFont typeface="Wingdings" panose="05000000000000000000" pitchFamily="2" charset="2"/>
              <a:buChar char="Ø"/>
            </a:pPr>
            <a:r>
              <a:rPr lang="en-IN" sz="2000" dirty="0">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Load Clean Data</a:t>
            </a:r>
            <a:br>
              <a:rPr lang="en-IN" sz="2000" dirty="0">
                <a:effectLst/>
                <a:latin typeface="Book Antiqua" panose="02040602050305030304" pitchFamily="18" charset="0"/>
                <a:ea typeface="Times New Roman" panose="02020603050405020304" pitchFamily="18" charset="0"/>
                <a:cs typeface="Times New Roman" panose="02020603050405020304" pitchFamily="18" charset="0"/>
              </a:rPr>
            </a:br>
            <a:br>
              <a:rPr lang="en-IN" sz="2000" dirty="0">
                <a:effectLst/>
                <a:latin typeface="Book Antiqua" panose="02040602050305030304" pitchFamily="18" charset="0"/>
                <a:ea typeface="Times New Roman" panose="02020603050405020304" pitchFamily="18" charset="0"/>
                <a:cs typeface="Times New Roman" panose="02020603050405020304" pitchFamily="18" charset="0"/>
              </a:rPr>
            </a:br>
            <a:br>
              <a:rPr lang="en-IN" dirty="0">
                <a:effectLst/>
                <a:latin typeface="Book Antiqua" panose="02040602050305030304" pitchFamily="18" charset="0"/>
                <a:ea typeface="Times New Roman" panose="02020603050405020304" pitchFamily="18" charset="0"/>
                <a:cs typeface="Times New Roman" panose="02020603050405020304" pitchFamily="18" charset="0"/>
              </a:rPr>
            </a:br>
            <a:br>
              <a:rPr lang="en-IN" dirty="0">
                <a:effectLst/>
                <a:latin typeface="Book Antiqua" panose="02040602050305030304" pitchFamily="18" charset="0"/>
                <a:ea typeface="Times New Roman" panose="02020603050405020304" pitchFamily="18" charset="0"/>
                <a:cs typeface="Times New Roman" panose="02020603050405020304" pitchFamily="18" charset="0"/>
              </a:rPr>
            </a:br>
            <a:br>
              <a:rPr lang="en-IN" dirty="0">
                <a:effectLst/>
                <a:latin typeface="Book Antiqua" panose="02040602050305030304" pitchFamily="18" charset="0"/>
                <a:ea typeface="Times New Roman" panose="02020603050405020304" pitchFamily="18" charset="0"/>
                <a:cs typeface="Times New Roman" panose="02020603050405020304" pitchFamily="18" charset="0"/>
              </a:rPr>
            </a:br>
            <a:br>
              <a:rPr lang="en-IN" dirty="0">
                <a:effectLst/>
                <a:latin typeface="Book Antiqua" panose="02040602050305030304" pitchFamily="18" charset="0"/>
                <a:ea typeface="Times New Roman" panose="02020603050405020304" pitchFamily="18" charset="0"/>
                <a:cs typeface="Times New Roman" panose="02020603050405020304" pitchFamily="18" charset="0"/>
              </a:rPr>
            </a:b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Modeling</a:t>
            </a:r>
          </a:p>
        </p:txBody>
      </p:sp>
      <p:sp>
        <p:nvSpPr>
          <p:cNvPr id="3" name="Content Placeholder 2"/>
          <p:cNvSpPr>
            <a:spLocks noGrp="1"/>
          </p:cNvSpPr>
          <p:nvPr>
            <p:ph idx="1"/>
          </p:nvPr>
        </p:nvSpPr>
        <p:spPr>
          <a:xfrm>
            <a:off x="609599" y="1631852"/>
            <a:ext cx="6347714" cy="4409511"/>
          </a:xfrm>
        </p:spPr>
        <p:txBody>
          <a:bodyPr/>
          <a:lstStyle/>
          <a:p>
            <a:r>
              <a:rPr lang="en-US" dirty="0"/>
              <a:t>Snowflake Schema</a:t>
            </a:r>
            <a:r>
              <a:rPr dirty="0"/>
              <a:t> </a:t>
            </a:r>
            <a:r>
              <a:rPr lang="en-US" dirty="0"/>
              <a:t>Applied</a:t>
            </a:r>
            <a:endParaRPr dirty="0"/>
          </a:p>
        </p:txBody>
      </p:sp>
      <p:pic>
        <p:nvPicPr>
          <p:cNvPr id="6" name="Picture 5">
            <a:extLst>
              <a:ext uri="{FF2B5EF4-FFF2-40B4-BE49-F238E27FC236}">
                <a16:creationId xmlns:a16="http://schemas.microsoft.com/office/drawing/2014/main" id="{39A7CDC3-AB1F-4AF5-B30B-EB90B256F36A}"/>
              </a:ext>
            </a:extLst>
          </p:cNvPr>
          <p:cNvPicPr>
            <a:picLocks noChangeAspect="1"/>
          </p:cNvPicPr>
          <p:nvPr/>
        </p:nvPicPr>
        <p:blipFill>
          <a:blip r:embed="rId2"/>
          <a:stretch>
            <a:fillRect/>
          </a:stretch>
        </p:blipFill>
        <p:spPr>
          <a:xfrm>
            <a:off x="869014" y="2536093"/>
            <a:ext cx="6347714" cy="34107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Dashboard</a:t>
            </a:r>
            <a:endParaRPr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E14D22F7-B6AB-4CC7-A9D2-922F050CF725}"/>
              </a:ext>
            </a:extLst>
          </p:cNvPr>
          <p:cNvPicPr>
            <a:picLocks noGrp="1" noChangeAspect="1"/>
          </p:cNvPicPr>
          <p:nvPr>
            <p:ph idx="1"/>
          </p:nvPr>
        </p:nvPicPr>
        <p:blipFill>
          <a:blip r:embed="rId2"/>
          <a:stretch>
            <a:fillRect/>
          </a:stretch>
        </p:blipFill>
        <p:spPr>
          <a:xfrm>
            <a:off x="609600" y="2300233"/>
            <a:ext cx="6348413" cy="3602147"/>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D82E56-D61B-428D-BAB3-3EB11EE92249}"/>
              </a:ext>
            </a:extLst>
          </p:cNvPr>
          <p:cNvPicPr>
            <a:picLocks noChangeAspect="1"/>
          </p:cNvPicPr>
          <p:nvPr/>
        </p:nvPicPr>
        <p:blipFill>
          <a:blip r:embed="rId2"/>
          <a:stretch>
            <a:fillRect/>
          </a:stretch>
        </p:blipFill>
        <p:spPr>
          <a:xfrm>
            <a:off x="604910" y="1237957"/>
            <a:ext cx="6217921" cy="4431323"/>
          </a:xfrm>
          <a:prstGeom prst="rect">
            <a:avLst/>
          </a:prstGeom>
        </p:spPr>
      </p:pic>
    </p:spTree>
    <p:extLst>
      <p:ext uri="{BB962C8B-B14F-4D97-AF65-F5344CB8AC3E}">
        <p14:creationId xmlns:p14="http://schemas.microsoft.com/office/powerpoint/2010/main" val="419303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6349BD-9B19-4895-B637-06E6E8628B23}"/>
              </a:ext>
            </a:extLst>
          </p:cNvPr>
          <p:cNvPicPr>
            <a:picLocks noChangeAspect="1"/>
          </p:cNvPicPr>
          <p:nvPr/>
        </p:nvPicPr>
        <p:blipFill>
          <a:blip r:embed="rId2"/>
          <a:stretch>
            <a:fillRect/>
          </a:stretch>
        </p:blipFill>
        <p:spPr>
          <a:xfrm>
            <a:off x="787790" y="1325880"/>
            <a:ext cx="6217921" cy="4441874"/>
          </a:xfrm>
          <a:prstGeom prst="rect">
            <a:avLst/>
          </a:prstGeom>
        </p:spPr>
      </p:pic>
    </p:spTree>
    <p:extLst>
      <p:ext uri="{BB962C8B-B14F-4D97-AF65-F5344CB8AC3E}">
        <p14:creationId xmlns:p14="http://schemas.microsoft.com/office/powerpoint/2010/main" val="1530475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712763"/>
          </a:xfrm>
        </p:spPr>
        <p:txBody>
          <a:bodyPr/>
          <a:lstStyle/>
          <a:p>
            <a:r>
              <a:rPr lang="en-IN" dirty="0"/>
              <a:t>Key KPIs</a:t>
            </a:r>
          </a:p>
        </p:txBody>
      </p:sp>
      <p:sp>
        <p:nvSpPr>
          <p:cNvPr id="3" name="Content Placeholder 2"/>
          <p:cNvSpPr>
            <a:spLocks noGrp="1"/>
          </p:cNvSpPr>
          <p:nvPr>
            <p:ph idx="1"/>
          </p:nvPr>
        </p:nvSpPr>
        <p:spPr>
          <a:xfrm>
            <a:off x="515812" y="1153551"/>
            <a:ext cx="3071451" cy="1069145"/>
          </a:xfrm>
        </p:spPr>
        <p:txBody>
          <a:bodyPr>
            <a:no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solidFill>
                  <a:schemeClr val="tx1"/>
                </a:solidFill>
                <a:latin typeface="Times New Roman" panose="02020603050405020304" pitchFamily="18" charset="0"/>
                <a:cs typeface="Times New Roman" panose="02020603050405020304" pitchFamily="18" charset="0"/>
              </a:rPr>
              <a:t>Marketing</a:t>
            </a:r>
          </a:p>
        </p:txBody>
      </p:sp>
      <p:pic>
        <p:nvPicPr>
          <p:cNvPr id="5" name="Picture 4">
            <a:extLst>
              <a:ext uri="{FF2B5EF4-FFF2-40B4-BE49-F238E27FC236}">
                <a16:creationId xmlns:a16="http://schemas.microsoft.com/office/drawing/2014/main" id="{4782A281-6ECC-4CAF-8D4D-0389DE882BD6}"/>
              </a:ext>
            </a:extLst>
          </p:cNvPr>
          <p:cNvPicPr>
            <a:picLocks noChangeAspect="1"/>
          </p:cNvPicPr>
          <p:nvPr/>
        </p:nvPicPr>
        <p:blipFill>
          <a:blip r:embed="rId2"/>
          <a:stretch>
            <a:fillRect/>
          </a:stretch>
        </p:blipFill>
        <p:spPr>
          <a:xfrm>
            <a:off x="515812" y="2400887"/>
            <a:ext cx="6935168" cy="819264"/>
          </a:xfrm>
          <a:prstGeom prst="rect">
            <a:avLst/>
          </a:prstGeom>
        </p:spPr>
      </p:pic>
      <p:sp>
        <p:nvSpPr>
          <p:cNvPr id="13" name="Content Placeholder 2">
            <a:extLst>
              <a:ext uri="{FF2B5EF4-FFF2-40B4-BE49-F238E27FC236}">
                <a16:creationId xmlns:a16="http://schemas.microsoft.com/office/drawing/2014/main" id="{77FD44B6-D0E8-417D-9480-F40AA589FFC3}"/>
              </a:ext>
            </a:extLst>
          </p:cNvPr>
          <p:cNvSpPr txBox="1">
            <a:spLocks/>
          </p:cNvSpPr>
          <p:nvPr/>
        </p:nvSpPr>
        <p:spPr>
          <a:xfrm>
            <a:off x="515812" y="3710941"/>
            <a:ext cx="3071451" cy="51229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dirty="0">
                <a:solidFill>
                  <a:schemeClr val="tx1"/>
                </a:solidFill>
                <a:latin typeface="Times New Roman" panose="02020603050405020304" pitchFamily="18" charset="0"/>
                <a:cs typeface="Times New Roman" panose="02020603050405020304" pitchFamily="18" charset="0"/>
              </a:rPr>
              <a:t>Customer</a:t>
            </a:r>
            <a:endParaRPr lang="en-US" sz="24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5B7B8B99-CAF1-429F-8AA9-B2AFCF24F4D7}"/>
              </a:ext>
            </a:extLst>
          </p:cNvPr>
          <p:cNvPicPr>
            <a:picLocks noChangeAspect="1"/>
          </p:cNvPicPr>
          <p:nvPr/>
        </p:nvPicPr>
        <p:blipFill>
          <a:blip r:embed="rId3"/>
          <a:stretch>
            <a:fillRect/>
          </a:stretch>
        </p:blipFill>
        <p:spPr>
          <a:xfrm>
            <a:off x="515812" y="4533915"/>
            <a:ext cx="7087589" cy="8287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1317542"/>
            <a:ext cx="6347714" cy="5393760"/>
          </a:xfrm>
        </p:spPr>
        <p:txBody>
          <a:bodyPr>
            <a:normAutofit/>
          </a:bodyPr>
          <a:lstStyle/>
          <a:p>
            <a:pPr marL="0" indent="0">
              <a:buNone/>
            </a:pPr>
            <a:r>
              <a:rPr lang="en-US" sz="2000" dirty="0">
                <a:solidFill>
                  <a:schemeClr val="tx1"/>
                </a:solidFill>
                <a:latin typeface="Book Antiqua" panose="02040602050305030304" pitchFamily="18" charset="0"/>
              </a:rPr>
              <a:t>Spend and Revenue Generated by Campaigns</a:t>
            </a:r>
          </a:p>
          <a:p>
            <a:pPr marL="0" indent="0">
              <a:buNone/>
            </a:pPr>
            <a:endParaRPr lang="en-US" sz="2000" dirty="0">
              <a:latin typeface="Book Antiqua" panose="02040602050305030304" pitchFamily="18" charset="0"/>
            </a:endParaRPr>
          </a:p>
        </p:txBody>
      </p:sp>
      <p:sp>
        <p:nvSpPr>
          <p:cNvPr id="8" name="TextBox 7">
            <a:extLst>
              <a:ext uri="{FF2B5EF4-FFF2-40B4-BE49-F238E27FC236}">
                <a16:creationId xmlns:a16="http://schemas.microsoft.com/office/drawing/2014/main" id="{4ECEAD40-115A-4C62-9A53-F6F86372081A}"/>
              </a:ext>
            </a:extLst>
          </p:cNvPr>
          <p:cNvSpPr txBox="1"/>
          <p:nvPr/>
        </p:nvSpPr>
        <p:spPr>
          <a:xfrm>
            <a:off x="665870" y="354185"/>
            <a:ext cx="4593100" cy="584775"/>
          </a:xfrm>
          <a:prstGeom prst="rect">
            <a:avLst/>
          </a:prstGeom>
          <a:noFill/>
        </p:spPr>
        <p:txBody>
          <a:bodyPr wrap="square">
            <a:spAutoFit/>
          </a:bodyPr>
          <a:lstStyle/>
          <a:p>
            <a:r>
              <a:rPr lang="en-IN" sz="3200" dirty="0">
                <a:solidFill>
                  <a:srgbClr val="FFC000"/>
                </a:solidFill>
                <a:latin typeface="Times New Roman" panose="02020603050405020304" pitchFamily="18" charset="0"/>
                <a:cs typeface="Times New Roman" panose="02020603050405020304" pitchFamily="18" charset="0"/>
              </a:rPr>
              <a:t>Charts Used</a:t>
            </a:r>
          </a:p>
        </p:txBody>
      </p:sp>
      <p:pic>
        <p:nvPicPr>
          <p:cNvPr id="12" name="Picture 11">
            <a:extLst>
              <a:ext uri="{FF2B5EF4-FFF2-40B4-BE49-F238E27FC236}">
                <a16:creationId xmlns:a16="http://schemas.microsoft.com/office/drawing/2014/main" id="{B6708991-FA5A-445B-8FC7-B10650601F0B}"/>
              </a:ext>
            </a:extLst>
          </p:cNvPr>
          <p:cNvPicPr>
            <a:picLocks noChangeAspect="1"/>
          </p:cNvPicPr>
          <p:nvPr/>
        </p:nvPicPr>
        <p:blipFill>
          <a:blip r:embed="rId2"/>
          <a:stretch>
            <a:fillRect/>
          </a:stretch>
        </p:blipFill>
        <p:spPr>
          <a:xfrm>
            <a:off x="1097030" y="2065541"/>
            <a:ext cx="5655461" cy="2968282"/>
          </a:xfrm>
          <a:prstGeom prst="rect">
            <a:avLst/>
          </a:prstGeom>
        </p:spPr>
      </p:pic>
      <p:sp>
        <p:nvSpPr>
          <p:cNvPr id="2" name="TextBox 1">
            <a:extLst>
              <a:ext uri="{FF2B5EF4-FFF2-40B4-BE49-F238E27FC236}">
                <a16:creationId xmlns:a16="http://schemas.microsoft.com/office/drawing/2014/main" id="{E6C0DD43-AD72-43AF-B44A-BBF5830A5B68}"/>
              </a:ext>
            </a:extLst>
          </p:cNvPr>
          <p:cNvSpPr txBox="1"/>
          <p:nvPr/>
        </p:nvSpPr>
        <p:spPr>
          <a:xfrm>
            <a:off x="1688123" y="5299863"/>
            <a:ext cx="4698609" cy="1200329"/>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sz="1800" dirty="0">
                <a:latin typeface="Book Antiqua" panose="02040602050305030304" pitchFamily="18" charset="0"/>
              </a:rPr>
              <a:t>Chart - Clustered Column Chart</a:t>
            </a:r>
          </a:p>
          <a:p>
            <a:pPr marL="285750" indent="-285750">
              <a:buClr>
                <a:srgbClr val="FFC000"/>
              </a:buClr>
              <a:buFont typeface="Arial" panose="020B0604020202020204" pitchFamily="34" charset="0"/>
              <a:buChar char="•"/>
            </a:pPr>
            <a:r>
              <a:rPr lang="en-US" dirty="0"/>
              <a:t>X-axis – campaign name</a:t>
            </a:r>
          </a:p>
          <a:p>
            <a:pPr marL="285750" indent="-285750">
              <a:buClr>
                <a:srgbClr val="FFC000"/>
              </a:buClr>
              <a:buFont typeface="Arial" panose="020B0604020202020204" pitchFamily="34" charset="0"/>
              <a:buChar char="•"/>
            </a:pPr>
            <a:r>
              <a:rPr lang="en-US" dirty="0"/>
              <a:t>Y-axis – sum of revenue generated,</a:t>
            </a:r>
          </a:p>
          <a:p>
            <a:r>
              <a:rPr lang="en-US" dirty="0"/>
              <a:t>	          sum of spend</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E268F-112F-4E92-AEE0-C4E86DFB580A}"/>
              </a:ext>
            </a:extLst>
          </p:cNvPr>
          <p:cNvSpPr>
            <a:spLocks noGrp="1"/>
          </p:cNvSpPr>
          <p:nvPr>
            <p:ph idx="1"/>
          </p:nvPr>
        </p:nvSpPr>
        <p:spPr>
          <a:xfrm>
            <a:off x="609599" y="1083211"/>
            <a:ext cx="6347714" cy="5641145"/>
          </a:xfrm>
        </p:spPr>
        <p:txBody>
          <a:bodyPr/>
          <a:lstStyle/>
          <a:p>
            <a:pPr marL="0" indent="0">
              <a:buNone/>
            </a:pPr>
            <a:r>
              <a:rPr lang="en-US" sz="1800" dirty="0">
                <a:solidFill>
                  <a:schemeClr val="tx1"/>
                </a:solidFill>
                <a:latin typeface="Book Antiqua" panose="02040602050305030304" pitchFamily="18" charset="0"/>
              </a:rPr>
              <a:t>Spen</a:t>
            </a:r>
            <a:r>
              <a:rPr lang="en-US" dirty="0">
                <a:solidFill>
                  <a:schemeClr val="tx1"/>
                </a:solidFill>
                <a:latin typeface="Book Antiqua" panose="02040602050305030304" pitchFamily="18" charset="0"/>
              </a:rPr>
              <a:t>d on Particular Channel</a:t>
            </a:r>
            <a:endParaRPr lang="en-US" sz="1800" dirty="0">
              <a:solidFill>
                <a:schemeClr val="tx1"/>
              </a:solidFill>
              <a:latin typeface="Book Antiqua" panose="02040602050305030304" pitchFamily="18" charset="0"/>
            </a:endParaRPr>
          </a:p>
        </p:txBody>
      </p:sp>
      <p:pic>
        <p:nvPicPr>
          <p:cNvPr id="8" name="Picture 7">
            <a:extLst>
              <a:ext uri="{FF2B5EF4-FFF2-40B4-BE49-F238E27FC236}">
                <a16:creationId xmlns:a16="http://schemas.microsoft.com/office/drawing/2014/main" id="{8A3802C4-F7E6-49BC-B89F-79125DBF19DD}"/>
              </a:ext>
            </a:extLst>
          </p:cNvPr>
          <p:cNvPicPr>
            <a:picLocks noChangeAspect="1"/>
          </p:cNvPicPr>
          <p:nvPr/>
        </p:nvPicPr>
        <p:blipFill>
          <a:blip r:embed="rId2"/>
          <a:stretch>
            <a:fillRect/>
          </a:stretch>
        </p:blipFill>
        <p:spPr>
          <a:xfrm>
            <a:off x="2012521" y="1866852"/>
            <a:ext cx="3541870" cy="3063484"/>
          </a:xfrm>
          <a:prstGeom prst="rect">
            <a:avLst/>
          </a:prstGeom>
        </p:spPr>
      </p:pic>
      <p:sp>
        <p:nvSpPr>
          <p:cNvPr id="4" name="TextBox 3">
            <a:extLst>
              <a:ext uri="{FF2B5EF4-FFF2-40B4-BE49-F238E27FC236}">
                <a16:creationId xmlns:a16="http://schemas.microsoft.com/office/drawing/2014/main" id="{E6F2123B-789A-4F66-BC8A-4DFB38315E8E}"/>
              </a:ext>
            </a:extLst>
          </p:cNvPr>
          <p:cNvSpPr txBox="1"/>
          <p:nvPr/>
        </p:nvSpPr>
        <p:spPr>
          <a:xfrm>
            <a:off x="1336431" y="5553469"/>
            <a:ext cx="4698609" cy="923330"/>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sz="1800" dirty="0">
                <a:latin typeface="Book Antiqua" panose="02040602050305030304" pitchFamily="18" charset="0"/>
              </a:rPr>
              <a:t>Chart - Donut Chart</a:t>
            </a:r>
          </a:p>
          <a:p>
            <a:pPr marL="285750" indent="-285750">
              <a:buClr>
                <a:srgbClr val="FFC000"/>
              </a:buClr>
              <a:buFont typeface="Arial" panose="020B0604020202020204" pitchFamily="34" charset="0"/>
              <a:buChar char="•"/>
            </a:pPr>
            <a:r>
              <a:rPr lang="en-US" dirty="0"/>
              <a:t>Legend – </a:t>
            </a:r>
            <a:r>
              <a:rPr lang="en-US" dirty="0" err="1"/>
              <a:t>Channal</a:t>
            </a:r>
            <a:endParaRPr lang="en-US" dirty="0"/>
          </a:p>
          <a:p>
            <a:pPr marL="285750" indent="-285750">
              <a:buClr>
                <a:srgbClr val="FFC000"/>
              </a:buClr>
              <a:buFont typeface="Arial" panose="020B0604020202020204" pitchFamily="34" charset="0"/>
              <a:buChar char="•"/>
            </a:pPr>
            <a:r>
              <a:rPr lang="en-US" dirty="0"/>
              <a:t>Value –  sum of spend</a:t>
            </a:r>
            <a:endParaRPr lang="en-IN" dirty="0"/>
          </a:p>
        </p:txBody>
      </p:sp>
    </p:spTree>
    <p:extLst>
      <p:ext uri="{BB962C8B-B14F-4D97-AF65-F5344CB8AC3E}">
        <p14:creationId xmlns:p14="http://schemas.microsoft.com/office/powerpoint/2010/main" val="1802193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EE9D4-205E-44F4-B276-D474DB07733E}"/>
              </a:ext>
            </a:extLst>
          </p:cNvPr>
          <p:cNvSpPr>
            <a:spLocks noGrp="1"/>
          </p:cNvSpPr>
          <p:nvPr>
            <p:ph idx="1"/>
          </p:nvPr>
        </p:nvSpPr>
        <p:spPr>
          <a:xfrm>
            <a:off x="609599" y="956603"/>
            <a:ext cx="6347714" cy="5781821"/>
          </a:xfrm>
        </p:spPr>
        <p:txBody>
          <a:bodyPr/>
          <a:lstStyle/>
          <a:p>
            <a:pPr marL="0" indent="0">
              <a:buNone/>
            </a:pPr>
            <a:r>
              <a:rPr lang="en-US" dirty="0">
                <a:solidFill>
                  <a:schemeClr val="tx1"/>
                </a:solidFill>
              </a:rPr>
              <a:t>Category wise Sales</a:t>
            </a:r>
            <a:endParaRPr lang="en-IN" dirty="0">
              <a:solidFill>
                <a:schemeClr val="tx1"/>
              </a:solidFill>
            </a:endParaRPr>
          </a:p>
        </p:txBody>
      </p:sp>
      <p:pic>
        <p:nvPicPr>
          <p:cNvPr id="5" name="Picture 4">
            <a:extLst>
              <a:ext uri="{FF2B5EF4-FFF2-40B4-BE49-F238E27FC236}">
                <a16:creationId xmlns:a16="http://schemas.microsoft.com/office/drawing/2014/main" id="{AD9649E5-478D-4992-9A48-5C4E27D55381}"/>
              </a:ext>
            </a:extLst>
          </p:cNvPr>
          <p:cNvPicPr>
            <a:picLocks noChangeAspect="1"/>
          </p:cNvPicPr>
          <p:nvPr/>
        </p:nvPicPr>
        <p:blipFill>
          <a:blip r:embed="rId2"/>
          <a:stretch>
            <a:fillRect/>
          </a:stretch>
        </p:blipFill>
        <p:spPr>
          <a:xfrm>
            <a:off x="2186686" y="1631852"/>
            <a:ext cx="3595135" cy="2982351"/>
          </a:xfrm>
          <a:prstGeom prst="rect">
            <a:avLst/>
          </a:prstGeom>
        </p:spPr>
      </p:pic>
      <p:sp>
        <p:nvSpPr>
          <p:cNvPr id="4" name="TextBox 3">
            <a:extLst>
              <a:ext uri="{FF2B5EF4-FFF2-40B4-BE49-F238E27FC236}">
                <a16:creationId xmlns:a16="http://schemas.microsoft.com/office/drawing/2014/main" id="{7259A73A-72A0-42F8-96F2-503D4B80B756}"/>
              </a:ext>
            </a:extLst>
          </p:cNvPr>
          <p:cNvSpPr txBox="1"/>
          <p:nvPr/>
        </p:nvSpPr>
        <p:spPr>
          <a:xfrm>
            <a:off x="1434151" y="5106572"/>
            <a:ext cx="4698609" cy="1200329"/>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sz="1800" dirty="0">
                <a:latin typeface="Book Antiqua" panose="02040602050305030304" pitchFamily="18" charset="0"/>
              </a:rPr>
              <a:t>Chart - Clustered </a:t>
            </a:r>
            <a:r>
              <a:rPr lang="en-US" dirty="0">
                <a:latin typeface="Book Antiqua" panose="02040602050305030304" pitchFamily="18" charset="0"/>
              </a:rPr>
              <a:t>Bar</a:t>
            </a:r>
            <a:r>
              <a:rPr lang="en-US" sz="1800" dirty="0">
                <a:latin typeface="Book Antiqua" panose="02040602050305030304" pitchFamily="18" charset="0"/>
              </a:rPr>
              <a:t> Chart</a:t>
            </a:r>
          </a:p>
          <a:p>
            <a:pPr marL="285750" indent="-285750">
              <a:buClr>
                <a:srgbClr val="FFC000"/>
              </a:buClr>
              <a:buFont typeface="Arial" panose="020B0604020202020204" pitchFamily="34" charset="0"/>
              <a:buChar char="•"/>
            </a:pPr>
            <a:r>
              <a:rPr lang="en-US" dirty="0"/>
              <a:t>Y-axis – Category</a:t>
            </a:r>
          </a:p>
          <a:p>
            <a:pPr marL="285750" indent="-285750">
              <a:buClr>
                <a:srgbClr val="FFC000"/>
              </a:buClr>
              <a:buFont typeface="Arial" panose="020B0604020202020204" pitchFamily="34" charset="0"/>
              <a:buChar char="•"/>
            </a:pPr>
            <a:r>
              <a:rPr lang="en-US" dirty="0"/>
              <a:t>X-axis – Total Sales</a:t>
            </a:r>
          </a:p>
          <a:p>
            <a:pPr marL="285750" indent="-285750">
              <a:buClr>
                <a:srgbClr val="FFC000"/>
              </a:buClr>
              <a:buFont typeface="Arial" panose="020B0604020202020204" pitchFamily="34" charset="0"/>
              <a:buChar char="•"/>
            </a:pPr>
            <a:r>
              <a:rPr lang="en-US" dirty="0"/>
              <a:t>Legend – Payment method</a:t>
            </a:r>
            <a:endParaRPr lang="en-IN" dirty="0"/>
          </a:p>
        </p:txBody>
      </p:sp>
    </p:spTree>
    <p:extLst>
      <p:ext uri="{BB962C8B-B14F-4D97-AF65-F5344CB8AC3E}">
        <p14:creationId xmlns:p14="http://schemas.microsoft.com/office/powerpoint/2010/main" val="4080623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8A8DDC-493D-42F7-8C94-78756B5E75F6}"/>
              </a:ext>
            </a:extLst>
          </p:cNvPr>
          <p:cNvSpPr>
            <a:spLocks noGrp="1"/>
          </p:cNvSpPr>
          <p:nvPr>
            <p:ph idx="1"/>
          </p:nvPr>
        </p:nvSpPr>
        <p:spPr>
          <a:xfrm>
            <a:off x="609599" y="1111348"/>
            <a:ext cx="6347714" cy="4930015"/>
          </a:xfrm>
        </p:spPr>
        <p:txBody>
          <a:bodyPr/>
          <a:lstStyle/>
          <a:p>
            <a:pPr marL="0" indent="0">
              <a:buNone/>
            </a:pPr>
            <a:r>
              <a:rPr lang="en-US" dirty="0">
                <a:solidFill>
                  <a:schemeClr val="tx1"/>
                </a:solidFill>
                <a:latin typeface="Book Antiqua" panose="02040602050305030304" pitchFamily="18" charset="0"/>
              </a:rPr>
              <a:t>Delivery Status</a:t>
            </a:r>
            <a:endParaRPr lang="en-US" sz="1800" dirty="0">
              <a:solidFill>
                <a:schemeClr val="tx1"/>
              </a:solidFill>
              <a:latin typeface="Book Antiqua" panose="02040602050305030304" pitchFamily="18" charset="0"/>
            </a:endParaRPr>
          </a:p>
          <a:p>
            <a:pPr marL="0" indent="0">
              <a:buNone/>
            </a:pPr>
            <a:endParaRPr lang="en-IN" dirty="0"/>
          </a:p>
        </p:txBody>
      </p:sp>
      <p:sp>
        <p:nvSpPr>
          <p:cNvPr id="4" name="TextBox 3">
            <a:extLst>
              <a:ext uri="{FF2B5EF4-FFF2-40B4-BE49-F238E27FC236}">
                <a16:creationId xmlns:a16="http://schemas.microsoft.com/office/drawing/2014/main" id="{43889547-AEE0-4262-9F01-B364C174F256}"/>
              </a:ext>
            </a:extLst>
          </p:cNvPr>
          <p:cNvSpPr txBox="1"/>
          <p:nvPr/>
        </p:nvSpPr>
        <p:spPr>
          <a:xfrm>
            <a:off x="1286355" y="5118033"/>
            <a:ext cx="4698609" cy="923330"/>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sz="1800" dirty="0">
                <a:latin typeface="Book Antiqua" panose="02040602050305030304" pitchFamily="18" charset="0"/>
              </a:rPr>
              <a:t>Chart – </a:t>
            </a:r>
            <a:r>
              <a:rPr lang="en-US" dirty="0">
                <a:latin typeface="Book Antiqua" panose="02040602050305030304" pitchFamily="18" charset="0"/>
              </a:rPr>
              <a:t>Actively Gauge</a:t>
            </a:r>
            <a:endParaRPr lang="en-US" sz="1800" dirty="0">
              <a:latin typeface="Book Antiqua" panose="02040602050305030304" pitchFamily="18" charset="0"/>
            </a:endParaRPr>
          </a:p>
          <a:p>
            <a:pPr marL="285750" indent="-285750">
              <a:buClr>
                <a:srgbClr val="FFC000"/>
              </a:buClr>
              <a:buFont typeface="Arial" panose="020B0604020202020204" pitchFamily="34" charset="0"/>
              <a:buChar char="•"/>
            </a:pPr>
            <a:r>
              <a:rPr lang="en-US" dirty="0"/>
              <a:t>Category – Delivery Status</a:t>
            </a:r>
          </a:p>
          <a:p>
            <a:pPr marL="285750" indent="-285750">
              <a:buClr>
                <a:srgbClr val="FFC000"/>
              </a:buClr>
              <a:buFont typeface="Arial" panose="020B0604020202020204" pitchFamily="34" charset="0"/>
              <a:buChar char="•"/>
            </a:pPr>
            <a:r>
              <a:rPr lang="en-US" dirty="0"/>
              <a:t>Values – Count of Order id</a:t>
            </a:r>
          </a:p>
        </p:txBody>
      </p:sp>
      <p:pic>
        <p:nvPicPr>
          <p:cNvPr id="6" name="Picture 5">
            <a:extLst>
              <a:ext uri="{FF2B5EF4-FFF2-40B4-BE49-F238E27FC236}">
                <a16:creationId xmlns:a16="http://schemas.microsoft.com/office/drawing/2014/main" id="{8FDEA877-8F74-4A73-B7B6-0CF1C1A9C9B4}"/>
              </a:ext>
            </a:extLst>
          </p:cNvPr>
          <p:cNvPicPr>
            <a:picLocks noChangeAspect="1"/>
          </p:cNvPicPr>
          <p:nvPr/>
        </p:nvPicPr>
        <p:blipFill>
          <a:blip r:embed="rId2"/>
          <a:stretch>
            <a:fillRect/>
          </a:stretch>
        </p:blipFill>
        <p:spPr>
          <a:xfrm>
            <a:off x="2186687" y="1739967"/>
            <a:ext cx="3657078" cy="2958642"/>
          </a:xfrm>
          <a:prstGeom prst="rect">
            <a:avLst/>
          </a:prstGeom>
        </p:spPr>
      </p:pic>
    </p:spTree>
    <p:extLst>
      <p:ext uri="{BB962C8B-B14F-4D97-AF65-F5344CB8AC3E}">
        <p14:creationId xmlns:p14="http://schemas.microsoft.com/office/powerpoint/2010/main" val="561125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20A7F3-958E-4782-A129-5CF9C2BF77C8}"/>
              </a:ext>
            </a:extLst>
          </p:cNvPr>
          <p:cNvSpPr>
            <a:spLocks noGrp="1"/>
          </p:cNvSpPr>
          <p:nvPr>
            <p:ph idx="1"/>
          </p:nvPr>
        </p:nvSpPr>
        <p:spPr>
          <a:xfrm>
            <a:off x="708073" y="854336"/>
            <a:ext cx="6347714" cy="5565668"/>
          </a:xfrm>
        </p:spPr>
        <p:txBody>
          <a:bodyPr/>
          <a:lstStyle/>
          <a:p>
            <a:pPr marL="0" indent="0">
              <a:buNone/>
            </a:pPr>
            <a:r>
              <a:rPr lang="en-US" dirty="0">
                <a:solidFill>
                  <a:schemeClr val="tx1"/>
                </a:solidFill>
              </a:rPr>
              <a:t>Customer Rating VS Sales</a:t>
            </a:r>
            <a:endParaRPr lang="en-IN" dirty="0">
              <a:solidFill>
                <a:schemeClr val="tx1"/>
              </a:solidFill>
            </a:endParaRPr>
          </a:p>
        </p:txBody>
      </p:sp>
      <p:pic>
        <p:nvPicPr>
          <p:cNvPr id="5" name="Picture 4">
            <a:extLst>
              <a:ext uri="{FF2B5EF4-FFF2-40B4-BE49-F238E27FC236}">
                <a16:creationId xmlns:a16="http://schemas.microsoft.com/office/drawing/2014/main" id="{F0F455A9-4902-4542-8367-AFEC61A5FEF0}"/>
              </a:ext>
            </a:extLst>
          </p:cNvPr>
          <p:cNvPicPr>
            <a:picLocks noChangeAspect="1"/>
          </p:cNvPicPr>
          <p:nvPr/>
        </p:nvPicPr>
        <p:blipFill>
          <a:blip r:embed="rId2"/>
          <a:stretch>
            <a:fillRect/>
          </a:stretch>
        </p:blipFill>
        <p:spPr>
          <a:xfrm>
            <a:off x="1913206" y="1891395"/>
            <a:ext cx="3906743" cy="2582131"/>
          </a:xfrm>
          <a:prstGeom prst="rect">
            <a:avLst/>
          </a:prstGeom>
        </p:spPr>
      </p:pic>
      <p:sp>
        <p:nvSpPr>
          <p:cNvPr id="4" name="TextBox 3">
            <a:extLst>
              <a:ext uri="{FF2B5EF4-FFF2-40B4-BE49-F238E27FC236}">
                <a16:creationId xmlns:a16="http://schemas.microsoft.com/office/drawing/2014/main" id="{EA8F315E-1D2A-49C1-99A6-F560996EDF92}"/>
              </a:ext>
            </a:extLst>
          </p:cNvPr>
          <p:cNvSpPr txBox="1"/>
          <p:nvPr/>
        </p:nvSpPr>
        <p:spPr>
          <a:xfrm>
            <a:off x="1517272" y="5008099"/>
            <a:ext cx="4698609" cy="923330"/>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dirty="0">
                <a:latin typeface="Book Antiqua" panose="02040602050305030304" pitchFamily="18" charset="0"/>
              </a:rPr>
              <a:t>Chart - </a:t>
            </a:r>
            <a:r>
              <a:rPr lang="en-US" sz="1800" dirty="0">
                <a:latin typeface="Book Antiqua" panose="02040602050305030304" pitchFamily="18" charset="0"/>
              </a:rPr>
              <a:t>Stacked Column Chart</a:t>
            </a:r>
          </a:p>
          <a:p>
            <a:pPr marL="285750" indent="-285750">
              <a:buClr>
                <a:srgbClr val="FFC000"/>
              </a:buClr>
              <a:buFont typeface="Arial" panose="020B0604020202020204" pitchFamily="34" charset="0"/>
              <a:buChar char="•"/>
            </a:pPr>
            <a:r>
              <a:rPr lang="en-US" dirty="0"/>
              <a:t>X-axis – Rating</a:t>
            </a:r>
          </a:p>
          <a:p>
            <a:pPr marL="285750" indent="-285750">
              <a:buClr>
                <a:srgbClr val="FFC000"/>
              </a:buClr>
              <a:buFont typeface="Arial" panose="020B0604020202020204" pitchFamily="34" charset="0"/>
              <a:buChar char="•"/>
            </a:pPr>
            <a:r>
              <a:rPr lang="en-US" dirty="0"/>
              <a:t>Y-axis – Total Sales</a:t>
            </a:r>
          </a:p>
        </p:txBody>
      </p:sp>
    </p:spTree>
    <p:extLst>
      <p:ext uri="{BB962C8B-B14F-4D97-AF65-F5344CB8AC3E}">
        <p14:creationId xmlns:p14="http://schemas.microsoft.com/office/powerpoint/2010/main" val="3052970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4E4358-8E96-4F79-9C64-F1CBF1D600DD}"/>
              </a:ext>
            </a:extLst>
          </p:cNvPr>
          <p:cNvSpPr>
            <a:spLocks noGrp="1"/>
          </p:cNvSpPr>
          <p:nvPr>
            <p:ph idx="1"/>
          </p:nvPr>
        </p:nvSpPr>
        <p:spPr>
          <a:xfrm>
            <a:off x="609599" y="450167"/>
            <a:ext cx="6347714" cy="6189784"/>
          </a:xfrm>
        </p:spPr>
        <p:txBody>
          <a:bodyPr/>
          <a:lstStyle/>
          <a:p>
            <a:pPr marL="0" indent="0">
              <a:buNone/>
            </a:pPr>
            <a:r>
              <a:rPr lang="en-US" dirty="0"/>
              <a:t>Total Orders By Area</a:t>
            </a:r>
            <a:endParaRPr lang="en-IN" dirty="0"/>
          </a:p>
        </p:txBody>
      </p:sp>
      <p:pic>
        <p:nvPicPr>
          <p:cNvPr id="5" name="Picture 4">
            <a:extLst>
              <a:ext uri="{FF2B5EF4-FFF2-40B4-BE49-F238E27FC236}">
                <a16:creationId xmlns:a16="http://schemas.microsoft.com/office/drawing/2014/main" id="{AD2205BD-3B99-419F-93FC-4A79A07CC9EB}"/>
              </a:ext>
            </a:extLst>
          </p:cNvPr>
          <p:cNvPicPr>
            <a:picLocks noChangeAspect="1"/>
          </p:cNvPicPr>
          <p:nvPr/>
        </p:nvPicPr>
        <p:blipFill>
          <a:blip r:embed="rId2"/>
          <a:stretch>
            <a:fillRect/>
          </a:stretch>
        </p:blipFill>
        <p:spPr>
          <a:xfrm>
            <a:off x="2473874" y="1073394"/>
            <a:ext cx="2785404" cy="3803845"/>
          </a:xfrm>
          <a:prstGeom prst="rect">
            <a:avLst/>
          </a:prstGeom>
        </p:spPr>
      </p:pic>
      <p:sp>
        <p:nvSpPr>
          <p:cNvPr id="4" name="TextBox 3">
            <a:extLst>
              <a:ext uri="{FF2B5EF4-FFF2-40B4-BE49-F238E27FC236}">
                <a16:creationId xmlns:a16="http://schemas.microsoft.com/office/drawing/2014/main" id="{4B6149D4-1063-401A-BF11-286E2266209A}"/>
              </a:ext>
            </a:extLst>
          </p:cNvPr>
          <p:cNvSpPr txBox="1"/>
          <p:nvPr/>
        </p:nvSpPr>
        <p:spPr>
          <a:xfrm>
            <a:off x="1517272" y="5219164"/>
            <a:ext cx="4698609" cy="923330"/>
          </a:xfrm>
          <a:prstGeom prst="rect">
            <a:avLst/>
          </a:prstGeom>
          <a:noFill/>
        </p:spPr>
        <p:txBody>
          <a:bodyPr wrap="square" rtlCol="0">
            <a:spAutoFit/>
          </a:bodyPr>
          <a:lstStyle/>
          <a:p>
            <a:pPr marL="285750" indent="-285750">
              <a:buClr>
                <a:srgbClr val="FFC000"/>
              </a:buClr>
              <a:buFont typeface="Arial" panose="020B0604020202020204" pitchFamily="34" charset="0"/>
              <a:buChar char="•"/>
            </a:pPr>
            <a:r>
              <a:rPr lang="en-US" sz="1800" dirty="0">
                <a:latin typeface="Book Antiqua" panose="02040602050305030304" pitchFamily="18" charset="0"/>
              </a:rPr>
              <a:t>Chart - Clustered bar Chart</a:t>
            </a:r>
          </a:p>
          <a:p>
            <a:pPr marL="285750" indent="-285750">
              <a:buClr>
                <a:srgbClr val="FFC000"/>
              </a:buClr>
              <a:buFont typeface="Arial" panose="020B0604020202020204" pitchFamily="34" charset="0"/>
              <a:buChar char="•"/>
            </a:pPr>
            <a:r>
              <a:rPr lang="en-US" dirty="0"/>
              <a:t>X-axis – Area</a:t>
            </a:r>
          </a:p>
          <a:p>
            <a:pPr marL="285750" indent="-285750">
              <a:buClr>
                <a:srgbClr val="FFC000"/>
              </a:buClr>
              <a:buFont typeface="Arial" panose="020B0604020202020204" pitchFamily="34" charset="0"/>
              <a:buChar char="•"/>
            </a:pPr>
            <a:r>
              <a:rPr lang="en-US" dirty="0"/>
              <a:t>Y-axis – Total Order</a:t>
            </a:r>
          </a:p>
        </p:txBody>
      </p:sp>
    </p:spTree>
    <p:extLst>
      <p:ext uri="{BB962C8B-B14F-4D97-AF65-F5344CB8AC3E}">
        <p14:creationId xmlns:p14="http://schemas.microsoft.com/office/powerpoint/2010/main" val="3869329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a:t>
            </a:r>
          </a:p>
        </p:txBody>
      </p:sp>
      <p:sp>
        <p:nvSpPr>
          <p:cNvPr id="3" name="Content Placeholder 2"/>
          <p:cNvSpPr>
            <a:spLocks noGrp="1"/>
          </p:cNvSpPr>
          <p:nvPr>
            <p:ph idx="1"/>
          </p:nvPr>
        </p:nvSpPr>
        <p:spPr>
          <a:xfrm>
            <a:off x="609599" y="1772530"/>
            <a:ext cx="6347714" cy="4268834"/>
          </a:xfrm>
        </p:spPr>
        <p:txBody>
          <a:bodyPr>
            <a:normAutofit/>
          </a:bodyPr>
          <a:lstStyle/>
          <a:p>
            <a:pPr marL="0" indent="0">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The </a:t>
            </a:r>
            <a:r>
              <a:rPr lang="en-US" sz="2000" dirty="0" err="1">
                <a:solidFill>
                  <a:schemeClr val="tx1"/>
                </a:solidFill>
                <a:latin typeface="Times New Roman" panose="02020603050405020304" pitchFamily="18" charset="0"/>
                <a:cs typeface="Times New Roman" panose="02020603050405020304" pitchFamily="18" charset="0"/>
              </a:rPr>
              <a:t>Blinkit</a:t>
            </a:r>
            <a:r>
              <a:rPr lang="en-US" sz="2000" dirty="0">
                <a:solidFill>
                  <a:schemeClr val="tx1"/>
                </a:solidFill>
                <a:latin typeface="Times New Roman" panose="02020603050405020304" pitchFamily="18" charset="0"/>
                <a:cs typeface="Times New Roman" panose="02020603050405020304" pitchFamily="18" charset="0"/>
              </a:rPr>
              <a:t> Marketing and Customer dashboard provides a clear view of campaign performance, customer behavior, and sales trends. It highlights which marketing channels generate higher revenue and which customer segments contribute the most to orders. These insights help the business optimize marketing spend and improve customer engagement. Overall, the dashboard supports better data-driven decision-making.</a:t>
            </a:r>
            <a:endParaRPr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2841674"/>
            <a:ext cx="6347713" cy="858128"/>
          </a:xfrm>
        </p:spPr>
        <p:txBody>
          <a:bodyPr>
            <a:normAutofit/>
          </a:bodyPr>
          <a:lstStyle/>
          <a:p>
            <a:pPr algn="ctr"/>
            <a:r>
              <a:rPr sz="4000" b="1" dirty="0">
                <a:latin typeface="Book Antiqua" panose="02040602050305030304" pitchFamily="18" charset="0"/>
              </a:rPr>
              <a:t>Thank You</a:t>
            </a:r>
          </a:p>
        </p:txBody>
      </p:sp>
    </p:spTree>
  </p:cSld>
  <p:clrMapOvr>
    <a:masterClrMapping/>
  </p:clrMapOvr>
</p:sld>
</file>

<file path=ppt/theme/theme1.xml><?xml version="1.0" encoding="utf-8"?>
<a:theme xmlns:a="http://schemas.openxmlformats.org/drawingml/2006/main" name="Facet">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504</TotalTime>
  <Words>400</Words>
  <Application>Microsoft Office PowerPoint</Application>
  <PresentationFormat>On-screen Show (4:3)</PresentationFormat>
  <Paragraphs>71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Book Antiqua</vt:lpstr>
      <vt:lpstr>Times New Roman</vt:lpstr>
      <vt:lpstr>Trebuchet MS</vt:lpstr>
      <vt:lpstr>Wingdings</vt:lpstr>
      <vt:lpstr>Wingdings 3</vt:lpstr>
      <vt:lpstr>Facet</vt:lpstr>
      <vt:lpstr>WELCOME</vt:lpstr>
      <vt:lpstr>PowerPoint Presentation</vt:lpstr>
      <vt:lpstr>Introduction</vt:lpstr>
      <vt:lpstr>Problem Statement</vt:lpstr>
      <vt:lpstr>Dataset Overview</vt:lpstr>
      <vt:lpstr>Data Transformation</vt:lpstr>
      <vt:lpstr>Data Modeling</vt:lpstr>
      <vt:lpstr>Dashboard</vt:lpstr>
      <vt:lpstr>PowerPoint Presentation</vt:lpstr>
      <vt:lpstr>PowerPoint Presentation</vt:lpstr>
      <vt:lpstr>Key KPIs</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Blinkit Grocery Sales Analysis</dc:title>
  <dc:subject/>
  <dc:creator>HP</dc:creator>
  <cp:keywords/>
  <dc:description>generated using python-pptx</dc:description>
  <cp:lastModifiedBy>g Gomathi</cp:lastModifiedBy>
  <cp:revision>47</cp:revision>
  <dcterms:created xsi:type="dcterms:W3CDTF">2013-01-27T09:14:16Z</dcterms:created>
  <dcterms:modified xsi:type="dcterms:W3CDTF">2026-02-06T00:06:45Z</dcterms:modified>
  <cp:category/>
</cp:coreProperties>
</file>